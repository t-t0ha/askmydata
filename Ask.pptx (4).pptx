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al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T-T0ha/AskMyData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602" y="3308261"/>
            <a:ext cx="14907063" cy="130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81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76323" y="4817021"/>
            <a:ext cx="706610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spc="-1">
                <a:solidFill>
                  <a:srgbClr val="00B8FF"/>
                </a:solidFill>
                <a:latin typeface="Arial"/>
                <a:ea typeface="Arial"/>
                <a:cs typeface="Arial"/>
                <a:sym typeface="Arial"/>
              </a:rPr>
              <a:t>Query Your Data in Plain English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33202" y="5933351"/>
            <a:ext cx="1216386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A Human-in-the-Loop Platform for RAG-Grounded, Semantically-Enriched Natural Language to SQL Generation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61602" y="7981226"/>
            <a:ext cx="14907063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Name: Md. Tamim Hasan Toha 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Roll: BSSE-1424</a:t>
            </a:r>
          </a:p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Supervisor: Dr. Emon Kumar Dey</a:t>
            </a:r>
          </a:p>
          <a:p>
            <a:pPr algn="ct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Institute of Information Technology, University of Dhaka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7282" y="1123226"/>
            <a:ext cx="14907063" cy="7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The 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955711"/>
            <a:ext cx="1490706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">
                <a:solidFill>
                  <a:srgbClr val="00B8FF"/>
                </a:solidFill>
                <a:latin typeface="Arial"/>
                <a:ea typeface="Arial"/>
                <a:cs typeface="Arial"/>
                <a:sym typeface="Arial"/>
              </a:rPr>
              <a:t>LLMs generate syntactically valid but semantically wrong SQL on real-world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5850" y="3143250"/>
            <a:ext cx="4960077" cy="3451317"/>
            <a:chOff x="0" y="0"/>
            <a:chExt cx="6613436" cy="4601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5240" y="15240"/>
              <a:ext cx="6582918" cy="4571238"/>
            </a:xfrm>
            <a:custGeom>
              <a:avLst/>
              <a:gdLst/>
              <a:ahLst/>
              <a:cxnLst/>
              <a:rect r="r" b="b" t="t" l="l"/>
              <a:pathLst>
                <a:path h="4571238" w="6582918">
                  <a:moveTo>
                    <a:pt x="0" y="761873"/>
                  </a:moveTo>
                  <a:cubicBezTo>
                    <a:pt x="0" y="341122"/>
                    <a:pt x="341757" y="0"/>
                    <a:pt x="763397" y="0"/>
                  </a:cubicBezTo>
                  <a:lnTo>
                    <a:pt x="5819521" y="0"/>
                  </a:lnTo>
                  <a:cubicBezTo>
                    <a:pt x="6241161" y="0"/>
                    <a:pt x="6582918" y="341122"/>
                    <a:pt x="6582918" y="761873"/>
                  </a:cubicBezTo>
                  <a:lnTo>
                    <a:pt x="6582918" y="3809365"/>
                  </a:lnTo>
                  <a:cubicBezTo>
                    <a:pt x="6582918" y="4230116"/>
                    <a:pt x="6241161" y="4571238"/>
                    <a:pt x="5819521" y="4571238"/>
                  </a:cubicBezTo>
                  <a:lnTo>
                    <a:pt x="763397" y="4571238"/>
                  </a:lnTo>
                  <a:cubicBezTo>
                    <a:pt x="341757" y="4571238"/>
                    <a:pt x="0" y="4230116"/>
                    <a:pt x="0" y="3809365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13398" cy="4601718"/>
            </a:xfrm>
            <a:custGeom>
              <a:avLst/>
              <a:gdLst/>
              <a:ahLst/>
              <a:cxnLst/>
              <a:rect r="r" b="b" t="t" l="l"/>
              <a:pathLst>
                <a:path h="4601718" w="6613398">
                  <a:moveTo>
                    <a:pt x="0" y="777113"/>
                  </a:moveTo>
                  <a:cubicBezTo>
                    <a:pt x="0" y="347853"/>
                    <a:pt x="348615" y="0"/>
                    <a:pt x="778637" y="0"/>
                  </a:cubicBezTo>
                  <a:lnTo>
                    <a:pt x="5834761" y="0"/>
                  </a:lnTo>
                  <a:lnTo>
                    <a:pt x="5834761" y="15240"/>
                  </a:lnTo>
                  <a:lnTo>
                    <a:pt x="5834761" y="0"/>
                  </a:lnTo>
                  <a:cubicBezTo>
                    <a:pt x="6264783" y="0"/>
                    <a:pt x="6613398" y="347853"/>
                    <a:pt x="6613398" y="777113"/>
                  </a:cubicBezTo>
                  <a:lnTo>
                    <a:pt x="6598158" y="777113"/>
                  </a:lnTo>
                  <a:lnTo>
                    <a:pt x="6613398" y="777113"/>
                  </a:lnTo>
                  <a:lnTo>
                    <a:pt x="6613398" y="3824605"/>
                  </a:lnTo>
                  <a:lnTo>
                    <a:pt x="6598158" y="3824605"/>
                  </a:lnTo>
                  <a:lnTo>
                    <a:pt x="6613398" y="3824605"/>
                  </a:lnTo>
                  <a:cubicBezTo>
                    <a:pt x="6613398" y="4253865"/>
                    <a:pt x="6264783" y="4601718"/>
                    <a:pt x="5834761" y="4601718"/>
                  </a:cubicBezTo>
                  <a:lnTo>
                    <a:pt x="5834761" y="4586478"/>
                  </a:lnTo>
                  <a:lnTo>
                    <a:pt x="5834761" y="4601718"/>
                  </a:lnTo>
                  <a:lnTo>
                    <a:pt x="778637" y="4601718"/>
                  </a:lnTo>
                  <a:lnTo>
                    <a:pt x="778637" y="4586478"/>
                  </a:lnTo>
                  <a:lnTo>
                    <a:pt x="778637" y="4601718"/>
                  </a:lnTo>
                  <a:cubicBezTo>
                    <a:pt x="348615" y="4601718"/>
                    <a:pt x="0" y="4253865"/>
                    <a:pt x="0" y="3824605"/>
                  </a:cubicBezTo>
                  <a:lnTo>
                    <a:pt x="0" y="777113"/>
                  </a:lnTo>
                  <a:lnTo>
                    <a:pt x="15240" y="777113"/>
                  </a:lnTo>
                  <a:lnTo>
                    <a:pt x="0" y="777113"/>
                  </a:lnTo>
                  <a:moveTo>
                    <a:pt x="30480" y="777113"/>
                  </a:moveTo>
                  <a:lnTo>
                    <a:pt x="30480" y="3824605"/>
                  </a:lnTo>
                  <a:lnTo>
                    <a:pt x="15240" y="3824605"/>
                  </a:lnTo>
                  <a:lnTo>
                    <a:pt x="30480" y="3824605"/>
                  </a:lnTo>
                  <a:cubicBezTo>
                    <a:pt x="30480" y="4236974"/>
                    <a:pt x="365379" y="4571238"/>
                    <a:pt x="778637" y="4571238"/>
                  </a:cubicBezTo>
                  <a:lnTo>
                    <a:pt x="5834761" y="4571238"/>
                  </a:lnTo>
                  <a:cubicBezTo>
                    <a:pt x="6248019" y="4571238"/>
                    <a:pt x="6582918" y="4236974"/>
                    <a:pt x="6582918" y="3824605"/>
                  </a:cubicBezTo>
                  <a:lnTo>
                    <a:pt x="6582918" y="777113"/>
                  </a:lnTo>
                  <a:cubicBezTo>
                    <a:pt x="6582918" y="364744"/>
                    <a:pt x="6248019" y="30480"/>
                    <a:pt x="5834761" y="30480"/>
                  </a:cubicBezTo>
                  <a:lnTo>
                    <a:pt x="778637" y="30480"/>
                  </a:lnTo>
                  <a:lnTo>
                    <a:pt x="778637" y="15240"/>
                  </a:lnTo>
                  <a:lnTo>
                    <a:pt x="778637" y="30480"/>
                  </a:lnTo>
                  <a:cubicBezTo>
                    <a:pt x="365379" y="30480"/>
                    <a:pt x="30480" y="364744"/>
                    <a:pt x="30480" y="777113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95812" y="3391938"/>
            <a:ext cx="539610" cy="539610"/>
            <a:chOff x="0" y="0"/>
            <a:chExt cx="719480" cy="719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115697"/>
                  </a:moveTo>
                  <a:cubicBezTo>
                    <a:pt x="0" y="51816"/>
                    <a:pt x="51816" y="0"/>
                    <a:pt x="115697" y="0"/>
                  </a:cubicBezTo>
                  <a:lnTo>
                    <a:pt x="578358" y="0"/>
                  </a:lnTo>
                  <a:cubicBezTo>
                    <a:pt x="642239" y="0"/>
                    <a:pt x="694055" y="51816"/>
                    <a:pt x="694055" y="115697"/>
                  </a:cubicBezTo>
                  <a:lnTo>
                    <a:pt x="694055" y="578358"/>
                  </a:lnTo>
                  <a:cubicBezTo>
                    <a:pt x="694055" y="642239"/>
                    <a:pt x="642239" y="694055"/>
                    <a:pt x="578358" y="694055"/>
                  </a:cubicBezTo>
                  <a:lnTo>
                    <a:pt x="115697" y="694055"/>
                  </a:lnTo>
                  <a:cubicBezTo>
                    <a:pt x="51816" y="694055"/>
                    <a:pt x="0" y="642239"/>
                    <a:pt x="0" y="578358"/>
                  </a:cubicBezTo>
                  <a:close/>
                </a:path>
              </a:pathLst>
            </a:custGeom>
            <a:solidFill>
              <a:srgbClr val="0F1E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455" cy="719455"/>
            </a:xfrm>
            <a:custGeom>
              <a:avLst/>
              <a:gdLst/>
              <a:ahLst/>
              <a:cxnLst/>
              <a:rect r="r" b="b" t="t" l="l"/>
              <a:pathLst>
                <a:path h="719455" w="719455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591058" y="0"/>
                  </a:lnTo>
                  <a:lnTo>
                    <a:pt x="591058" y="12700"/>
                  </a:lnTo>
                  <a:lnTo>
                    <a:pt x="591058" y="0"/>
                  </a:lnTo>
                  <a:cubicBezTo>
                    <a:pt x="661924" y="0"/>
                    <a:pt x="719455" y="57531"/>
                    <a:pt x="719455" y="128397"/>
                  </a:cubicBezTo>
                  <a:lnTo>
                    <a:pt x="719455" y="591058"/>
                  </a:lnTo>
                  <a:lnTo>
                    <a:pt x="706755" y="591058"/>
                  </a:lnTo>
                  <a:lnTo>
                    <a:pt x="719455" y="591058"/>
                  </a:lnTo>
                  <a:cubicBezTo>
                    <a:pt x="719455" y="661924"/>
                    <a:pt x="661924" y="719455"/>
                    <a:pt x="591058" y="719455"/>
                  </a:cubicBezTo>
                  <a:lnTo>
                    <a:pt x="591058" y="706755"/>
                  </a:lnTo>
                  <a:lnTo>
                    <a:pt x="591058" y="719455"/>
                  </a:lnTo>
                  <a:lnTo>
                    <a:pt x="128397" y="719455"/>
                  </a:lnTo>
                  <a:lnTo>
                    <a:pt x="128397" y="706755"/>
                  </a:lnTo>
                  <a:lnTo>
                    <a:pt x="128397" y="719455"/>
                  </a:lnTo>
                  <a:cubicBezTo>
                    <a:pt x="57531" y="719455"/>
                    <a:pt x="0" y="662051"/>
                    <a:pt x="0" y="591058"/>
                  </a:cubicBezTo>
                  <a:lnTo>
                    <a:pt x="0" y="128397"/>
                  </a:lnTo>
                  <a:lnTo>
                    <a:pt x="12700" y="128397"/>
                  </a:lnTo>
                  <a:lnTo>
                    <a:pt x="0" y="128397"/>
                  </a:lnTo>
                  <a:moveTo>
                    <a:pt x="25400" y="128397"/>
                  </a:moveTo>
                  <a:lnTo>
                    <a:pt x="25400" y="591058"/>
                  </a:lnTo>
                  <a:lnTo>
                    <a:pt x="12700" y="591058"/>
                  </a:lnTo>
                  <a:lnTo>
                    <a:pt x="25400" y="591058"/>
                  </a:lnTo>
                  <a:cubicBezTo>
                    <a:pt x="25400" y="647954"/>
                    <a:pt x="71501" y="694055"/>
                    <a:pt x="128397" y="694055"/>
                  </a:cubicBezTo>
                  <a:lnTo>
                    <a:pt x="591058" y="694055"/>
                  </a:lnTo>
                  <a:cubicBezTo>
                    <a:pt x="647954" y="694055"/>
                    <a:pt x="694055" y="647954"/>
                    <a:pt x="694055" y="591058"/>
                  </a:cubicBezTo>
                  <a:lnTo>
                    <a:pt x="694055" y="128397"/>
                  </a:lnTo>
                  <a:lnTo>
                    <a:pt x="706755" y="128397"/>
                  </a:lnTo>
                  <a:lnTo>
                    <a:pt x="694055" y="128397"/>
                  </a:lnTo>
                  <a:cubicBezTo>
                    <a:pt x="694055" y="71501"/>
                    <a:pt x="647954" y="25400"/>
                    <a:pt x="591058" y="25400"/>
                  </a:cubicBezTo>
                  <a:lnTo>
                    <a:pt x="128397" y="25400"/>
                  </a:lnTo>
                  <a:lnTo>
                    <a:pt x="128397" y="12700"/>
                  </a:lnTo>
                  <a:lnTo>
                    <a:pt x="128397" y="25400"/>
                  </a:lnTo>
                  <a:cubicBezTo>
                    <a:pt x="71501" y="25400"/>
                    <a:pt x="25400" y="71501"/>
                    <a:pt x="25400" y="128397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20361" y="3516478"/>
            <a:ext cx="291598" cy="291598"/>
            <a:chOff x="0" y="0"/>
            <a:chExt cx="388798" cy="388798"/>
          </a:xfrm>
        </p:grpSpPr>
        <p:sp>
          <p:nvSpPr>
            <p:cNvPr name="Freeform 15" id="15" descr="fa-question-circle.png"/>
            <p:cNvSpPr/>
            <p:nvPr/>
          </p:nvSpPr>
          <p:spPr>
            <a:xfrm flipH="false" flipV="false" rot="0">
              <a:off x="0" y="0"/>
              <a:ext cx="388747" cy="388747"/>
            </a:xfrm>
            <a:custGeom>
              <a:avLst/>
              <a:gdLst/>
              <a:ahLst/>
              <a:cxnLst/>
              <a:rect r="r" b="b" t="t" l="l"/>
              <a:pathLst>
                <a:path h="388747" w="388747">
                  <a:moveTo>
                    <a:pt x="0" y="0"/>
                  </a:moveTo>
                  <a:lnTo>
                    <a:pt x="388747" y="0"/>
                  </a:lnTo>
                  <a:lnTo>
                    <a:pt x="388747" y="388747"/>
                  </a:lnTo>
                  <a:lnTo>
                    <a:pt x="0" y="388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3" b="-1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34055" y="4068194"/>
            <a:ext cx="42636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Ambiguous Column Names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4055" y="4744469"/>
            <a:ext cx="4263657" cy="89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What does "amt" mean?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Amount? Adjustment? Amortization?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LLMs can only guess.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72250" y="3143250"/>
            <a:ext cx="4960077" cy="3451317"/>
            <a:chOff x="0" y="0"/>
            <a:chExt cx="6613436" cy="46017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5240" y="15240"/>
              <a:ext cx="6582918" cy="4571238"/>
            </a:xfrm>
            <a:custGeom>
              <a:avLst/>
              <a:gdLst/>
              <a:ahLst/>
              <a:cxnLst/>
              <a:rect r="r" b="b" t="t" l="l"/>
              <a:pathLst>
                <a:path h="4571238" w="6582918">
                  <a:moveTo>
                    <a:pt x="0" y="761873"/>
                  </a:moveTo>
                  <a:cubicBezTo>
                    <a:pt x="0" y="341122"/>
                    <a:pt x="341757" y="0"/>
                    <a:pt x="763397" y="0"/>
                  </a:cubicBezTo>
                  <a:lnTo>
                    <a:pt x="5819521" y="0"/>
                  </a:lnTo>
                  <a:cubicBezTo>
                    <a:pt x="6241161" y="0"/>
                    <a:pt x="6582918" y="341122"/>
                    <a:pt x="6582918" y="761873"/>
                  </a:cubicBezTo>
                  <a:lnTo>
                    <a:pt x="6582918" y="3809365"/>
                  </a:lnTo>
                  <a:cubicBezTo>
                    <a:pt x="6582918" y="4230116"/>
                    <a:pt x="6241161" y="4571238"/>
                    <a:pt x="5819521" y="4571238"/>
                  </a:cubicBezTo>
                  <a:lnTo>
                    <a:pt x="763397" y="4571238"/>
                  </a:lnTo>
                  <a:cubicBezTo>
                    <a:pt x="341757" y="4571238"/>
                    <a:pt x="0" y="4230116"/>
                    <a:pt x="0" y="3809365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13398" cy="4601718"/>
            </a:xfrm>
            <a:custGeom>
              <a:avLst/>
              <a:gdLst/>
              <a:ahLst/>
              <a:cxnLst/>
              <a:rect r="r" b="b" t="t" l="l"/>
              <a:pathLst>
                <a:path h="4601718" w="6613398">
                  <a:moveTo>
                    <a:pt x="0" y="777113"/>
                  </a:moveTo>
                  <a:cubicBezTo>
                    <a:pt x="0" y="347853"/>
                    <a:pt x="348615" y="0"/>
                    <a:pt x="778637" y="0"/>
                  </a:cubicBezTo>
                  <a:lnTo>
                    <a:pt x="5834761" y="0"/>
                  </a:lnTo>
                  <a:lnTo>
                    <a:pt x="5834761" y="15240"/>
                  </a:lnTo>
                  <a:lnTo>
                    <a:pt x="5834761" y="0"/>
                  </a:lnTo>
                  <a:cubicBezTo>
                    <a:pt x="6264783" y="0"/>
                    <a:pt x="6613398" y="347853"/>
                    <a:pt x="6613398" y="777113"/>
                  </a:cubicBezTo>
                  <a:lnTo>
                    <a:pt x="6598158" y="777113"/>
                  </a:lnTo>
                  <a:lnTo>
                    <a:pt x="6613398" y="777113"/>
                  </a:lnTo>
                  <a:lnTo>
                    <a:pt x="6613398" y="3824605"/>
                  </a:lnTo>
                  <a:lnTo>
                    <a:pt x="6598158" y="3824605"/>
                  </a:lnTo>
                  <a:lnTo>
                    <a:pt x="6613398" y="3824605"/>
                  </a:lnTo>
                  <a:cubicBezTo>
                    <a:pt x="6613398" y="4253865"/>
                    <a:pt x="6264783" y="4601718"/>
                    <a:pt x="5834761" y="4601718"/>
                  </a:cubicBezTo>
                  <a:lnTo>
                    <a:pt x="5834761" y="4586478"/>
                  </a:lnTo>
                  <a:lnTo>
                    <a:pt x="5834761" y="4601718"/>
                  </a:lnTo>
                  <a:lnTo>
                    <a:pt x="778637" y="4601718"/>
                  </a:lnTo>
                  <a:lnTo>
                    <a:pt x="778637" y="4586478"/>
                  </a:lnTo>
                  <a:lnTo>
                    <a:pt x="778637" y="4601718"/>
                  </a:lnTo>
                  <a:cubicBezTo>
                    <a:pt x="348615" y="4601718"/>
                    <a:pt x="0" y="4253865"/>
                    <a:pt x="0" y="3824605"/>
                  </a:cubicBezTo>
                  <a:lnTo>
                    <a:pt x="0" y="777113"/>
                  </a:lnTo>
                  <a:lnTo>
                    <a:pt x="15240" y="777113"/>
                  </a:lnTo>
                  <a:lnTo>
                    <a:pt x="0" y="777113"/>
                  </a:lnTo>
                  <a:moveTo>
                    <a:pt x="30480" y="777113"/>
                  </a:moveTo>
                  <a:lnTo>
                    <a:pt x="30480" y="3824605"/>
                  </a:lnTo>
                  <a:lnTo>
                    <a:pt x="15240" y="3824605"/>
                  </a:lnTo>
                  <a:lnTo>
                    <a:pt x="30480" y="3824605"/>
                  </a:lnTo>
                  <a:cubicBezTo>
                    <a:pt x="30480" y="4236974"/>
                    <a:pt x="365379" y="4571238"/>
                    <a:pt x="778637" y="4571238"/>
                  </a:cubicBezTo>
                  <a:lnTo>
                    <a:pt x="5834761" y="4571238"/>
                  </a:lnTo>
                  <a:cubicBezTo>
                    <a:pt x="6248019" y="4571238"/>
                    <a:pt x="6582918" y="4236974"/>
                    <a:pt x="6582918" y="3824605"/>
                  </a:cubicBezTo>
                  <a:lnTo>
                    <a:pt x="6582918" y="777113"/>
                  </a:lnTo>
                  <a:cubicBezTo>
                    <a:pt x="6582918" y="364744"/>
                    <a:pt x="6248019" y="30480"/>
                    <a:pt x="5834761" y="30480"/>
                  </a:cubicBezTo>
                  <a:lnTo>
                    <a:pt x="778637" y="30480"/>
                  </a:lnTo>
                  <a:lnTo>
                    <a:pt x="778637" y="15240"/>
                  </a:lnTo>
                  <a:lnTo>
                    <a:pt x="778637" y="30480"/>
                  </a:lnTo>
                  <a:cubicBezTo>
                    <a:pt x="365379" y="30480"/>
                    <a:pt x="30480" y="364744"/>
                    <a:pt x="30480" y="777113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82212" y="3391938"/>
            <a:ext cx="539610" cy="539610"/>
            <a:chOff x="0" y="0"/>
            <a:chExt cx="719480" cy="719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115697"/>
                  </a:moveTo>
                  <a:cubicBezTo>
                    <a:pt x="0" y="51816"/>
                    <a:pt x="51816" y="0"/>
                    <a:pt x="115697" y="0"/>
                  </a:cubicBezTo>
                  <a:lnTo>
                    <a:pt x="578358" y="0"/>
                  </a:lnTo>
                  <a:cubicBezTo>
                    <a:pt x="642239" y="0"/>
                    <a:pt x="694055" y="51816"/>
                    <a:pt x="694055" y="115697"/>
                  </a:cubicBezTo>
                  <a:lnTo>
                    <a:pt x="694055" y="578358"/>
                  </a:lnTo>
                  <a:cubicBezTo>
                    <a:pt x="694055" y="642239"/>
                    <a:pt x="642239" y="694055"/>
                    <a:pt x="578358" y="694055"/>
                  </a:cubicBezTo>
                  <a:lnTo>
                    <a:pt x="115697" y="694055"/>
                  </a:lnTo>
                  <a:cubicBezTo>
                    <a:pt x="51816" y="694055"/>
                    <a:pt x="0" y="642239"/>
                    <a:pt x="0" y="578358"/>
                  </a:cubicBezTo>
                  <a:close/>
                </a:path>
              </a:pathLst>
            </a:custGeom>
            <a:solidFill>
              <a:srgbClr val="0F1E3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9455" cy="719455"/>
            </a:xfrm>
            <a:custGeom>
              <a:avLst/>
              <a:gdLst/>
              <a:ahLst/>
              <a:cxnLst/>
              <a:rect r="r" b="b" t="t" l="l"/>
              <a:pathLst>
                <a:path h="719455" w="719455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591058" y="0"/>
                  </a:lnTo>
                  <a:lnTo>
                    <a:pt x="591058" y="12700"/>
                  </a:lnTo>
                  <a:lnTo>
                    <a:pt x="591058" y="0"/>
                  </a:lnTo>
                  <a:cubicBezTo>
                    <a:pt x="661924" y="0"/>
                    <a:pt x="719455" y="57531"/>
                    <a:pt x="719455" y="128397"/>
                  </a:cubicBezTo>
                  <a:lnTo>
                    <a:pt x="719455" y="591058"/>
                  </a:lnTo>
                  <a:lnTo>
                    <a:pt x="706755" y="591058"/>
                  </a:lnTo>
                  <a:lnTo>
                    <a:pt x="719455" y="591058"/>
                  </a:lnTo>
                  <a:cubicBezTo>
                    <a:pt x="719455" y="661924"/>
                    <a:pt x="661924" y="719455"/>
                    <a:pt x="591058" y="719455"/>
                  </a:cubicBezTo>
                  <a:lnTo>
                    <a:pt x="591058" y="706755"/>
                  </a:lnTo>
                  <a:lnTo>
                    <a:pt x="591058" y="719455"/>
                  </a:lnTo>
                  <a:lnTo>
                    <a:pt x="128397" y="719455"/>
                  </a:lnTo>
                  <a:lnTo>
                    <a:pt x="128397" y="706755"/>
                  </a:lnTo>
                  <a:lnTo>
                    <a:pt x="128397" y="719455"/>
                  </a:lnTo>
                  <a:cubicBezTo>
                    <a:pt x="57531" y="719455"/>
                    <a:pt x="0" y="662051"/>
                    <a:pt x="0" y="591058"/>
                  </a:cubicBezTo>
                  <a:lnTo>
                    <a:pt x="0" y="128397"/>
                  </a:lnTo>
                  <a:lnTo>
                    <a:pt x="12700" y="128397"/>
                  </a:lnTo>
                  <a:lnTo>
                    <a:pt x="0" y="128397"/>
                  </a:lnTo>
                  <a:moveTo>
                    <a:pt x="25400" y="128397"/>
                  </a:moveTo>
                  <a:lnTo>
                    <a:pt x="25400" y="591058"/>
                  </a:lnTo>
                  <a:lnTo>
                    <a:pt x="12700" y="591058"/>
                  </a:lnTo>
                  <a:lnTo>
                    <a:pt x="25400" y="591058"/>
                  </a:lnTo>
                  <a:cubicBezTo>
                    <a:pt x="25400" y="647954"/>
                    <a:pt x="71501" y="694055"/>
                    <a:pt x="128397" y="694055"/>
                  </a:cubicBezTo>
                  <a:lnTo>
                    <a:pt x="591058" y="694055"/>
                  </a:lnTo>
                  <a:cubicBezTo>
                    <a:pt x="647954" y="694055"/>
                    <a:pt x="694055" y="647954"/>
                    <a:pt x="694055" y="591058"/>
                  </a:cubicBezTo>
                  <a:lnTo>
                    <a:pt x="694055" y="128397"/>
                  </a:lnTo>
                  <a:lnTo>
                    <a:pt x="706755" y="128397"/>
                  </a:lnTo>
                  <a:lnTo>
                    <a:pt x="694055" y="128397"/>
                  </a:lnTo>
                  <a:cubicBezTo>
                    <a:pt x="694055" y="71501"/>
                    <a:pt x="647954" y="25400"/>
                    <a:pt x="591058" y="25400"/>
                  </a:cubicBezTo>
                  <a:lnTo>
                    <a:pt x="128397" y="25400"/>
                  </a:lnTo>
                  <a:lnTo>
                    <a:pt x="128397" y="12700"/>
                  </a:lnTo>
                  <a:lnTo>
                    <a:pt x="128397" y="25400"/>
                  </a:lnTo>
                  <a:cubicBezTo>
                    <a:pt x="71501" y="25400"/>
                    <a:pt x="25400" y="71501"/>
                    <a:pt x="25400" y="128397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06761" y="3516478"/>
            <a:ext cx="291598" cy="291598"/>
            <a:chOff x="0" y="0"/>
            <a:chExt cx="388798" cy="388798"/>
          </a:xfrm>
        </p:grpSpPr>
        <p:sp>
          <p:nvSpPr>
            <p:cNvPr name="Freeform 25" id="25" descr="fa-project-diagram.png"/>
            <p:cNvSpPr/>
            <p:nvPr/>
          </p:nvSpPr>
          <p:spPr>
            <a:xfrm flipH="false" flipV="false" rot="0">
              <a:off x="0" y="0"/>
              <a:ext cx="388747" cy="388747"/>
            </a:xfrm>
            <a:custGeom>
              <a:avLst/>
              <a:gdLst/>
              <a:ahLst/>
              <a:cxnLst/>
              <a:rect r="r" b="b" t="t" l="l"/>
              <a:pathLst>
                <a:path h="388747" w="388747">
                  <a:moveTo>
                    <a:pt x="0" y="0"/>
                  </a:moveTo>
                  <a:lnTo>
                    <a:pt x="388747" y="0"/>
                  </a:lnTo>
                  <a:lnTo>
                    <a:pt x="388747" y="388747"/>
                  </a:lnTo>
                  <a:lnTo>
                    <a:pt x="0" y="388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3" b="-1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920455" y="4068194"/>
            <a:ext cx="42636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Undocumented Relationships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20455" y="4744469"/>
            <a:ext cx="4263657" cy="89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No foreign keys defined.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LLMs infer joins incorrectly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and produce wrong results.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58650" y="3143250"/>
            <a:ext cx="4960077" cy="3451317"/>
            <a:chOff x="0" y="0"/>
            <a:chExt cx="6613436" cy="46017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5240" y="15240"/>
              <a:ext cx="6582918" cy="4571238"/>
            </a:xfrm>
            <a:custGeom>
              <a:avLst/>
              <a:gdLst/>
              <a:ahLst/>
              <a:cxnLst/>
              <a:rect r="r" b="b" t="t" l="l"/>
              <a:pathLst>
                <a:path h="4571238" w="6582918">
                  <a:moveTo>
                    <a:pt x="0" y="761873"/>
                  </a:moveTo>
                  <a:cubicBezTo>
                    <a:pt x="0" y="341122"/>
                    <a:pt x="341757" y="0"/>
                    <a:pt x="763397" y="0"/>
                  </a:cubicBezTo>
                  <a:lnTo>
                    <a:pt x="5819521" y="0"/>
                  </a:lnTo>
                  <a:cubicBezTo>
                    <a:pt x="6241161" y="0"/>
                    <a:pt x="6582918" y="341122"/>
                    <a:pt x="6582918" y="761873"/>
                  </a:cubicBezTo>
                  <a:lnTo>
                    <a:pt x="6582918" y="3809365"/>
                  </a:lnTo>
                  <a:cubicBezTo>
                    <a:pt x="6582918" y="4230116"/>
                    <a:pt x="6241161" y="4571238"/>
                    <a:pt x="5819521" y="4571238"/>
                  </a:cubicBezTo>
                  <a:lnTo>
                    <a:pt x="763397" y="4571238"/>
                  </a:lnTo>
                  <a:cubicBezTo>
                    <a:pt x="341757" y="4571238"/>
                    <a:pt x="0" y="4230116"/>
                    <a:pt x="0" y="3809365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13398" cy="4601718"/>
            </a:xfrm>
            <a:custGeom>
              <a:avLst/>
              <a:gdLst/>
              <a:ahLst/>
              <a:cxnLst/>
              <a:rect r="r" b="b" t="t" l="l"/>
              <a:pathLst>
                <a:path h="4601718" w="6613398">
                  <a:moveTo>
                    <a:pt x="0" y="777113"/>
                  </a:moveTo>
                  <a:cubicBezTo>
                    <a:pt x="0" y="347853"/>
                    <a:pt x="348615" y="0"/>
                    <a:pt x="778637" y="0"/>
                  </a:cubicBezTo>
                  <a:lnTo>
                    <a:pt x="5834761" y="0"/>
                  </a:lnTo>
                  <a:lnTo>
                    <a:pt x="5834761" y="15240"/>
                  </a:lnTo>
                  <a:lnTo>
                    <a:pt x="5834761" y="0"/>
                  </a:lnTo>
                  <a:cubicBezTo>
                    <a:pt x="6264783" y="0"/>
                    <a:pt x="6613398" y="347853"/>
                    <a:pt x="6613398" y="777113"/>
                  </a:cubicBezTo>
                  <a:lnTo>
                    <a:pt x="6598158" y="777113"/>
                  </a:lnTo>
                  <a:lnTo>
                    <a:pt x="6613398" y="777113"/>
                  </a:lnTo>
                  <a:lnTo>
                    <a:pt x="6613398" y="3824605"/>
                  </a:lnTo>
                  <a:lnTo>
                    <a:pt x="6598158" y="3824605"/>
                  </a:lnTo>
                  <a:lnTo>
                    <a:pt x="6613398" y="3824605"/>
                  </a:lnTo>
                  <a:cubicBezTo>
                    <a:pt x="6613398" y="4253865"/>
                    <a:pt x="6264783" y="4601718"/>
                    <a:pt x="5834761" y="4601718"/>
                  </a:cubicBezTo>
                  <a:lnTo>
                    <a:pt x="5834761" y="4586478"/>
                  </a:lnTo>
                  <a:lnTo>
                    <a:pt x="5834761" y="4601718"/>
                  </a:lnTo>
                  <a:lnTo>
                    <a:pt x="778637" y="4601718"/>
                  </a:lnTo>
                  <a:lnTo>
                    <a:pt x="778637" y="4586478"/>
                  </a:lnTo>
                  <a:lnTo>
                    <a:pt x="778637" y="4601718"/>
                  </a:lnTo>
                  <a:cubicBezTo>
                    <a:pt x="348615" y="4601718"/>
                    <a:pt x="0" y="4253865"/>
                    <a:pt x="0" y="3824605"/>
                  </a:cubicBezTo>
                  <a:lnTo>
                    <a:pt x="0" y="777113"/>
                  </a:lnTo>
                  <a:lnTo>
                    <a:pt x="15240" y="777113"/>
                  </a:lnTo>
                  <a:lnTo>
                    <a:pt x="0" y="777113"/>
                  </a:lnTo>
                  <a:moveTo>
                    <a:pt x="30480" y="777113"/>
                  </a:moveTo>
                  <a:lnTo>
                    <a:pt x="30480" y="3824605"/>
                  </a:lnTo>
                  <a:lnTo>
                    <a:pt x="15240" y="3824605"/>
                  </a:lnTo>
                  <a:lnTo>
                    <a:pt x="30480" y="3824605"/>
                  </a:lnTo>
                  <a:cubicBezTo>
                    <a:pt x="30480" y="4236974"/>
                    <a:pt x="365379" y="4571238"/>
                    <a:pt x="778637" y="4571238"/>
                  </a:cubicBezTo>
                  <a:lnTo>
                    <a:pt x="5834761" y="4571238"/>
                  </a:lnTo>
                  <a:cubicBezTo>
                    <a:pt x="6248019" y="4571238"/>
                    <a:pt x="6582918" y="4236974"/>
                    <a:pt x="6582918" y="3824605"/>
                  </a:cubicBezTo>
                  <a:lnTo>
                    <a:pt x="6582918" y="777113"/>
                  </a:lnTo>
                  <a:cubicBezTo>
                    <a:pt x="6582918" y="364744"/>
                    <a:pt x="6248019" y="30480"/>
                    <a:pt x="5834761" y="30480"/>
                  </a:cubicBezTo>
                  <a:lnTo>
                    <a:pt x="778637" y="30480"/>
                  </a:lnTo>
                  <a:lnTo>
                    <a:pt x="778637" y="15240"/>
                  </a:lnTo>
                  <a:lnTo>
                    <a:pt x="778637" y="30480"/>
                  </a:lnTo>
                  <a:cubicBezTo>
                    <a:pt x="365379" y="30480"/>
                    <a:pt x="30480" y="364744"/>
                    <a:pt x="30480" y="777113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268612" y="3391938"/>
            <a:ext cx="539610" cy="539610"/>
            <a:chOff x="0" y="0"/>
            <a:chExt cx="719480" cy="719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115697"/>
                  </a:moveTo>
                  <a:cubicBezTo>
                    <a:pt x="0" y="51816"/>
                    <a:pt x="51816" y="0"/>
                    <a:pt x="115697" y="0"/>
                  </a:cubicBezTo>
                  <a:lnTo>
                    <a:pt x="578358" y="0"/>
                  </a:lnTo>
                  <a:cubicBezTo>
                    <a:pt x="642239" y="0"/>
                    <a:pt x="694055" y="51816"/>
                    <a:pt x="694055" y="115697"/>
                  </a:cubicBezTo>
                  <a:lnTo>
                    <a:pt x="694055" y="578358"/>
                  </a:lnTo>
                  <a:cubicBezTo>
                    <a:pt x="694055" y="642239"/>
                    <a:pt x="642239" y="694055"/>
                    <a:pt x="578358" y="694055"/>
                  </a:cubicBezTo>
                  <a:lnTo>
                    <a:pt x="115697" y="694055"/>
                  </a:lnTo>
                  <a:cubicBezTo>
                    <a:pt x="51816" y="694055"/>
                    <a:pt x="0" y="642239"/>
                    <a:pt x="0" y="578358"/>
                  </a:cubicBezTo>
                  <a:close/>
                </a:path>
              </a:pathLst>
            </a:custGeom>
            <a:solidFill>
              <a:srgbClr val="0F1E3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9455" cy="719455"/>
            </a:xfrm>
            <a:custGeom>
              <a:avLst/>
              <a:gdLst/>
              <a:ahLst/>
              <a:cxnLst/>
              <a:rect r="r" b="b" t="t" l="l"/>
              <a:pathLst>
                <a:path h="719455" w="719455">
                  <a:moveTo>
                    <a:pt x="0" y="128397"/>
                  </a:moveTo>
                  <a:cubicBezTo>
                    <a:pt x="0" y="57531"/>
                    <a:pt x="57531" y="0"/>
                    <a:pt x="128397" y="0"/>
                  </a:cubicBezTo>
                  <a:lnTo>
                    <a:pt x="591058" y="0"/>
                  </a:lnTo>
                  <a:lnTo>
                    <a:pt x="591058" y="12700"/>
                  </a:lnTo>
                  <a:lnTo>
                    <a:pt x="591058" y="0"/>
                  </a:lnTo>
                  <a:cubicBezTo>
                    <a:pt x="661924" y="0"/>
                    <a:pt x="719455" y="57531"/>
                    <a:pt x="719455" y="128397"/>
                  </a:cubicBezTo>
                  <a:lnTo>
                    <a:pt x="719455" y="591058"/>
                  </a:lnTo>
                  <a:lnTo>
                    <a:pt x="706755" y="591058"/>
                  </a:lnTo>
                  <a:lnTo>
                    <a:pt x="719455" y="591058"/>
                  </a:lnTo>
                  <a:cubicBezTo>
                    <a:pt x="719455" y="661924"/>
                    <a:pt x="661924" y="719455"/>
                    <a:pt x="591058" y="719455"/>
                  </a:cubicBezTo>
                  <a:lnTo>
                    <a:pt x="591058" y="706755"/>
                  </a:lnTo>
                  <a:lnTo>
                    <a:pt x="591058" y="719455"/>
                  </a:lnTo>
                  <a:lnTo>
                    <a:pt x="128397" y="719455"/>
                  </a:lnTo>
                  <a:lnTo>
                    <a:pt x="128397" y="706755"/>
                  </a:lnTo>
                  <a:lnTo>
                    <a:pt x="128397" y="719455"/>
                  </a:lnTo>
                  <a:cubicBezTo>
                    <a:pt x="57531" y="719455"/>
                    <a:pt x="0" y="662051"/>
                    <a:pt x="0" y="591058"/>
                  </a:cubicBezTo>
                  <a:lnTo>
                    <a:pt x="0" y="128397"/>
                  </a:lnTo>
                  <a:lnTo>
                    <a:pt x="12700" y="128397"/>
                  </a:lnTo>
                  <a:lnTo>
                    <a:pt x="0" y="128397"/>
                  </a:lnTo>
                  <a:moveTo>
                    <a:pt x="25400" y="128397"/>
                  </a:moveTo>
                  <a:lnTo>
                    <a:pt x="25400" y="591058"/>
                  </a:lnTo>
                  <a:lnTo>
                    <a:pt x="12700" y="591058"/>
                  </a:lnTo>
                  <a:lnTo>
                    <a:pt x="25400" y="591058"/>
                  </a:lnTo>
                  <a:cubicBezTo>
                    <a:pt x="25400" y="647954"/>
                    <a:pt x="71501" y="694055"/>
                    <a:pt x="128397" y="694055"/>
                  </a:cubicBezTo>
                  <a:lnTo>
                    <a:pt x="591058" y="694055"/>
                  </a:lnTo>
                  <a:cubicBezTo>
                    <a:pt x="647954" y="694055"/>
                    <a:pt x="694055" y="647954"/>
                    <a:pt x="694055" y="591058"/>
                  </a:cubicBezTo>
                  <a:lnTo>
                    <a:pt x="694055" y="128397"/>
                  </a:lnTo>
                  <a:lnTo>
                    <a:pt x="706755" y="128397"/>
                  </a:lnTo>
                  <a:lnTo>
                    <a:pt x="694055" y="128397"/>
                  </a:lnTo>
                  <a:cubicBezTo>
                    <a:pt x="694055" y="71501"/>
                    <a:pt x="647954" y="25400"/>
                    <a:pt x="591058" y="25400"/>
                  </a:cubicBezTo>
                  <a:lnTo>
                    <a:pt x="128397" y="25400"/>
                  </a:lnTo>
                  <a:lnTo>
                    <a:pt x="128397" y="12700"/>
                  </a:lnTo>
                  <a:lnTo>
                    <a:pt x="128397" y="25400"/>
                  </a:lnTo>
                  <a:cubicBezTo>
                    <a:pt x="71501" y="25400"/>
                    <a:pt x="25400" y="71501"/>
                    <a:pt x="25400" y="128397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393161" y="3516478"/>
            <a:ext cx="291598" cy="291598"/>
            <a:chOff x="0" y="0"/>
            <a:chExt cx="388798" cy="388798"/>
          </a:xfrm>
        </p:grpSpPr>
        <p:sp>
          <p:nvSpPr>
            <p:cNvPr name="Freeform 35" id="35" descr="fa-briefcase.png"/>
            <p:cNvSpPr/>
            <p:nvPr/>
          </p:nvSpPr>
          <p:spPr>
            <a:xfrm flipH="false" flipV="false" rot="0">
              <a:off x="0" y="0"/>
              <a:ext cx="388747" cy="388747"/>
            </a:xfrm>
            <a:custGeom>
              <a:avLst/>
              <a:gdLst/>
              <a:ahLst/>
              <a:cxnLst/>
              <a:rect r="r" b="b" t="t" l="l"/>
              <a:pathLst>
                <a:path h="388747" w="388747">
                  <a:moveTo>
                    <a:pt x="0" y="0"/>
                  </a:moveTo>
                  <a:lnTo>
                    <a:pt x="388747" y="0"/>
                  </a:lnTo>
                  <a:lnTo>
                    <a:pt x="388747" y="388747"/>
                  </a:lnTo>
                  <a:lnTo>
                    <a:pt x="0" y="388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3" b="-13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406855" y="4068194"/>
            <a:ext cx="42636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Missing Business Context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06855" y="4744469"/>
            <a:ext cx="4263657" cy="895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Domain rules, definitions, and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constraints exist only in people's</a:t>
            </a:r>
          </a:p>
          <a:p>
            <a:pPr algn="ctr">
              <a:lnSpc>
                <a:spcPts val="1980"/>
              </a:lnSpc>
            </a:pPr>
            <a:r>
              <a:rPr lang="en-US" sz="165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heads, not in the data.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736056" y="7262336"/>
            <a:ext cx="12358145" cy="1111025"/>
            <a:chOff x="0" y="0"/>
            <a:chExt cx="16477526" cy="14813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9525" y="9525"/>
              <a:ext cx="16458439" cy="1462278"/>
            </a:xfrm>
            <a:custGeom>
              <a:avLst/>
              <a:gdLst/>
              <a:ahLst/>
              <a:cxnLst/>
              <a:rect r="r" b="b" t="t" l="l"/>
              <a:pathLst>
                <a:path h="1462278" w="16458439">
                  <a:moveTo>
                    <a:pt x="0" y="243713"/>
                  </a:moveTo>
                  <a:cubicBezTo>
                    <a:pt x="0" y="109093"/>
                    <a:pt x="110363" y="0"/>
                    <a:pt x="246634" y="0"/>
                  </a:cubicBezTo>
                  <a:lnTo>
                    <a:pt x="16211804" y="0"/>
                  </a:lnTo>
                  <a:cubicBezTo>
                    <a:pt x="16347948" y="0"/>
                    <a:pt x="16458439" y="109093"/>
                    <a:pt x="16458439" y="243713"/>
                  </a:cubicBezTo>
                  <a:lnTo>
                    <a:pt x="16458439" y="1218565"/>
                  </a:lnTo>
                  <a:cubicBezTo>
                    <a:pt x="16458439" y="1353185"/>
                    <a:pt x="16348075" y="1462278"/>
                    <a:pt x="16211804" y="1462278"/>
                  </a:cubicBezTo>
                  <a:lnTo>
                    <a:pt x="246634" y="1462278"/>
                  </a:lnTo>
                  <a:cubicBezTo>
                    <a:pt x="110363" y="1462278"/>
                    <a:pt x="0" y="1353185"/>
                    <a:pt x="0" y="1218565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77489" cy="1481328"/>
            </a:xfrm>
            <a:custGeom>
              <a:avLst/>
              <a:gdLst/>
              <a:ahLst/>
              <a:cxnLst/>
              <a:rect r="r" b="b" t="t" l="l"/>
              <a:pathLst>
                <a:path h="1481328" w="16477489">
                  <a:moveTo>
                    <a:pt x="0" y="253238"/>
                  </a:moveTo>
                  <a:cubicBezTo>
                    <a:pt x="0" y="113284"/>
                    <a:pt x="114808" y="0"/>
                    <a:pt x="256159" y="0"/>
                  </a:cubicBezTo>
                  <a:lnTo>
                    <a:pt x="16221329" y="0"/>
                  </a:lnTo>
                  <a:lnTo>
                    <a:pt x="16221329" y="9525"/>
                  </a:lnTo>
                  <a:lnTo>
                    <a:pt x="16221329" y="0"/>
                  </a:lnTo>
                  <a:cubicBezTo>
                    <a:pt x="16362680" y="0"/>
                    <a:pt x="16477489" y="113284"/>
                    <a:pt x="16477489" y="253238"/>
                  </a:cubicBezTo>
                  <a:lnTo>
                    <a:pt x="16467964" y="253238"/>
                  </a:lnTo>
                  <a:lnTo>
                    <a:pt x="16477489" y="253238"/>
                  </a:lnTo>
                  <a:lnTo>
                    <a:pt x="16477489" y="1228090"/>
                  </a:lnTo>
                  <a:lnTo>
                    <a:pt x="16467964" y="1228090"/>
                  </a:lnTo>
                  <a:lnTo>
                    <a:pt x="16477489" y="1228090"/>
                  </a:lnTo>
                  <a:cubicBezTo>
                    <a:pt x="16477489" y="1368044"/>
                    <a:pt x="16362680" y="1481328"/>
                    <a:pt x="16221329" y="1481328"/>
                  </a:cubicBezTo>
                  <a:lnTo>
                    <a:pt x="16221329" y="1471803"/>
                  </a:lnTo>
                  <a:lnTo>
                    <a:pt x="16221329" y="1481328"/>
                  </a:lnTo>
                  <a:lnTo>
                    <a:pt x="256159" y="1481328"/>
                  </a:lnTo>
                  <a:lnTo>
                    <a:pt x="256159" y="1471803"/>
                  </a:lnTo>
                  <a:lnTo>
                    <a:pt x="256159" y="1481328"/>
                  </a:lnTo>
                  <a:cubicBezTo>
                    <a:pt x="114808" y="1481328"/>
                    <a:pt x="0" y="1368044"/>
                    <a:pt x="0" y="1228090"/>
                  </a:cubicBezTo>
                  <a:lnTo>
                    <a:pt x="0" y="253238"/>
                  </a:lnTo>
                  <a:lnTo>
                    <a:pt x="9525" y="253238"/>
                  </a:lnTo>
                  <a:lnTo>
                    <a:pt x="0" y="253238"/>
                  </a:lnTo>
                  <a:moveTo>
                    <a:pt x="19050" y="253238"/>
                  </a:moveTo>
                  <a:lnTo>
                    <a:pt x="19050" y="1228090"/>
                  </a:lnTo>
                  <a:lnTo>
                    <a:pt x="9525" y="1228090"/>
                  </a:lnTo>
                  <a:lnTo>
                    <a:pt x="19050" y="1228090"/>
                  </a:lnTo>
                  <a:cubicBezTo>
                    <a:pt x="19050" y="1357376"/>
                    <a:pt x="125095" y="1462278"/>
                    <a:pt x="256159" y="1462278"/>
                  </a:cubicBezTo>
                  <a:lnTo>
                    <a:pt x="16221329" y="1462278"/>
                  </a:lnTo>
                  <a:cubicBezTo>
                    <a:pt x="16352393" y="1462278"/>
                    <a:pt x="16458439" y="1357376"/>
                    <a:pt x="16458439" y="1228090"/>
                  </a:cubicBezTo>
                  <a:lnTo>
                    <a:pt x="16458439" y="253238"/>
                  </a:lnTo>
                  <a:cubicBezTo>
                    <a:pt x="16458439" y="123952"/>
                    <a:pt x="16352393" y="19050"/>
                    <a:pt x="16221329" y="19050"/>
                  </a:cubicBezTo>
                  <a:lnTo>
                    <a:pt x="256159" y="19050"/>
                  </a:lnTo>
                  <a:lnTo>
                    <a:pt x="256159" y="9525"/>
                  </a:lnTo>
                  <a:lnTo>
                    <a:pt x="256159" y="19050"/>
                  </a:lnTo>
                  <a:cubicBezTo>
                    <a:pt x="125095" y="19050"/>
                    <a:pt x="19050" y="123952"/>
                    <a:pt x="19050" y="253238"/>
                  </a:cubicBezTo>
                  <a:close/>
                </a:path>
              </a:pathLst>
            </a:custGeom>
            <a:solidFill>
              <a:srgbClr val="00598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480379" y="7590777"/>
            <a:ext cx="8869499" cy="454142"/>
            <a:chOff x="0" y="0"/>
            <a:chExt cx="11825999" cy="6055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826000" cy="605520"/>
            </a:xfrm>
            <a:custGeom>
              <a:avLst/>
              <a:gdLst/>
              <a:ahLst/>
              <a:cxnLst/>
              <a:rect r="r" b="b" t="t" l="l"/>
              <a:pathLst>
                <a:path h="605520" w="11826000">
                  <a:moveTo>
                    <a:pt x="0" y="0"/>
                  </a:moveTo>
                  <a:lnTo>
                    <a:pt x="11826000" y="0"/>
                  </a:lnTo>
                  <a:lnTo>
                    <a:pt x="11826000" y="605520"/>
                  </a:lnTo>
                  <a:lnTo>
                    <a:pt x="0" y="605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0548" r="0" b="-3305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1825999" cy="6150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spc="-1">
                  <a:solidFill>
                    <a:srgbClr val="FF6B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WARNING: Existing NL2SQL tools skip semantic grounding entirely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37856" y="7603761"/>
            <a:ext cx="14901819" cy="872188"/>
          </a:xfrm>
          <a:custGeom>
            <a:avLst/>
            <a:gdLst/>
            <a:ahLst/>
            <a:cxnLst/>
            <a:rect r="r" b="b" t="t" l="l"/>
            <a:pathLst>
              <a:path h="872188" w="14901819">
                <a:moveTo>
                  <a:pt x="0" y="0"/>
                </a:moveTo>
                <a:lnTo>
                  <a:pt x="14901819" y="0"/>
                </a:lnTo>
                <a:lnTo>
                  <a:pt x="14901819" y="872188"/>
                </a:lnTo>
                <a:lnTo>
                  <a:pt x="0" y="872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98" t="-20824" r="-1490" b="-2269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14907063" cy="79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282" y="1955711"/>
            <a:ext cx="1490706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">
                <a:solidFill>
                  <a:srgbClr val="00B8FF"/>
                </a:solidFill>
                <a:latin typeface="Arial"/>
                <a:ea typeface="Arial"/>
                <a:cs typeface="Arial"/>
                <a:sym typeface="Arial"/>
              </a:rPr>
              <a:t>AskMyData builds a semantic enrichment layer of the data source before NL2SQL generation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8230" y="2718178"/>
            <a:ext cx="16541070" cy="3573901"/>
            <a:chOff x="0" y="0"/>
            <a:chExt cx="22054759" cy="476520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7204014" y="1821242"/>
              <a:ext cx="1688491" cy="843911"/>
              <a:chOff x="0" y="0"/>
              <a:chExt cx="1828076" cy="91367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828038" cy="913638"/>
              </a:xfrm>
              <a:custGeom>
                <a:avLst/>
                <a:gdLst/>
                <a:ahLst/>
                <a:cxnLst/>
                <a:rect r="r" b="b" t="t" l="l"/>
                <a:pathLst>
                  <a:path h="913638" w="1828038">
                    <a:moveTo>
                      <a:pt x="0" y="228473"/>
                    </a:moveTo>
                    <a:lnTo>
                      <a:pt x="1371219" y="228473"/>
                    </a:lnTo>
                    <a:lnTo>
                      <a:pt x="1371219" y="0"/>
                    </a:lnTo>
                    <a:lnTo>
                      <a:pt x="1828038" y="456819"/>
                    </a:lnTo>
                    <a:lnTo>
                      <a:pt x="1371219" y="913638"/>
                    </a:lnTo>
                    <a:lnTo>
                      <a:pt x="1371219" y="685292"/>
                    </a:lnTo>
                    <a:lnTo>
                      <a:pt x="0" y="685292"/>
                    </a:lnTo>
                    <a:close/>
                  </a:path>
                </a:pathLst>
              </a:custGeom>
              <a:solidFill>
                <a:srgbClr val="00B8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879496" y="1391527"/>
              <a:ext cx="5432794" cy="1716643"/>
              <a:chOff x="0" y="0"/>
              <a:chExt cx="5881916" cy="185855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5240" y="15240"/>
                <a:ext cx="5851398" cy="1828038"/>
              </a:xfrm>
              <a:custGeom>
                <a:avLst/>
                <a:gdLst/>
                <a:ahLst/>
                <a:cxnLst/>
                <a:rect r="r" b="b" t="t" l="l"/>
                <a:pathLst>
                  <a:path h="1828038" w="5851398">
                    <a:moveTo>
                      <a:pt x="0" y="304673"/>
                    </a:moveTo>
                    <a:cubicBezTo>
                      <a:pt x="0" y="136398"/>
                      <a:pt x="137922" y="0"/>
                      <a:pt x="308102" y="0"/>
                    </a:cubicBezTo>
                    <a:lnTo>
                      <a:pt x="5543296" y="0"/>
                    </a:lnTo>
                    <a:cubicBezTo>
                      <a:pt x="5713476" y="0"/>
                      <a:pt x="5851398" y="136398"/>
                      <a:pt x="5851398" y="304673"/>
                    </a:cubicBezTo>
                    <a:lnTo>
                      <a:pt x="5851398" y="1523365"/>
                    </a:lnTo>
                    <a:cubicBezTo>
                      <a:pt x="5851398" y="1691640"/>
                      <a:pt x="5713476" y="1828038"/>
                      <a:pt x="5543296" y="1828038"/>
                    </a:cubicBezTo>
                    <a:lnTo>
                      <a:pt x="308102" y="1828038"/>
                    </a:lnTo>
                    <a:cubicBezTo>
                      <a:pt x="137922" y="1828038"/>
                      <a:pt x="0" y="1691640"/>
                      <a:pt x="0" y="1523365"/>
                    </a:cubicBezTo>
                    <a:close/>
                  </a:path>
                </a:pathLst>
              </a:custGeom>
              <a:solidFill>
                <a:srgbClr val="112240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81878" cy="1858518"/>
              </a:xfrm>
              <a:custGeom>
                <a:avLst/>
                <a:gdLst/>
                <a:ahLst/>
                <a:cxnLst/>
                <a:rect r="r" b="b" t="t" l="l"/>
                <a:pathLst>
                  <a:path h="1858518" w="5881878">
                    <a:moveTo>
                      <a:pt x="0" y="319913"/>
                    </a:moveTo>
                    <a:cubicBezTo>
                      <a:pt x="0" y="143129"/>
                      <a:pt x="144907" y="0"/>
                      <a:pt x="323342" y="0"/>
                    </a:cubicBezTo>
                    <a:lnTo>
                      <a:pt x="5558536" y="0"/>
                    </a:lnTo>
                    <a:lnTo>
                      <a:pt x="5558536" y="15240"/>
                    </a:lnTo>
                    <a:lnTo>
                      <a:pt x="5558536" y="0"/>
                    </a:lnTo>
                    <a:cubicBezTo>
                      <a:pt x="5736971" y="0"/>
                      <a:pt x="5881878" y="143129"/>
                      <a:pt x="5881878" y="319913"/>
                    </a:cubicBezTo>
                    <a:lnTo>
                      <a:pt x="5866638" y="319913"/>
                    </a:lnTo>
                    <a:lnTo>
                      <a:pt x="5881878" y="319913"/>
                    </a:lnTo>
                    <a:lnTo>
                      <a:pt x="5881878" y="1538605"/>
                    </a:lnTo>
                    <a:lnTo>
                      <a:pt x="5866638" y="1538605"/>
                    </a:lnTo>
                    <a:lnTo>
                      <a:pt x="5881878" y="1538605"/>
                    </a:lnTo>
                    <a:cubicBezTo>
                      <a:pt x="5881878" y="1715516"/>
                      <a:pt x="5736971" y="1858518"/>
                      <a:pt x="5558536" y="1858518"/>
                    </a:cubicBezTo>
                    <a:lnTo>
                      <a:pt x="5558536" y="1843278"/>
                    </a:lnTo>
                    <a:lnTo>
                      <a:pt x="5558536" y="1858518"/>
                    </a:lnTo>
                    <a:lnTo>
                      <a:pt x="323342" y="1858518"/>
                    </a:lnTo>
                    <a:lnTo>
                      <a:pt x="323342" y="1843278"/>
                    </a:lnTo>
                    <a:lnTo>
                      <a:pt x="323342" y="1858518"/>
                    </a:lnTo>
                    <a:cubicBezTo>
                      <a:pt x="144907" y="1858518"/>
                      <a:pt x="0" y="1715516"/>
                      <a:pt x="0" y="1538605"/>
                    </a:cubicBezTo>
                    <a:lnTo>
                      <a:pt x="0" y="319913"/>
                    </a:lnTo>
                    <a:lnTo>
                      <a:pt x="15240" y="319913"/>
                    </a:lnTo>
                    <a:lnTo>
                      <a:pt x="0" y="319913"/>
                    </a:lnTo>
                    <a:moveTo>
                      <a:pt x="30480" y="319913"/>
                    </a:moveTo>
                    <a:lnTo>
                      <a:pt x="30480" y="1538605"/>
                    </a:lnTo>
                    <a:lnTo>
                      <a:pt x="15240" y="1538605"/>
                    </a:lnTo>
                    <a:lnTo>
                      <a:pt x="30480" y="1538605"/>
                    </a:lnTo>
                    <a:cubicBezTo>
                      <a:pt x="30480" y="1698244"/>
                      <a:pt x="161417" y="1828038"/>
                      <a:pt x="323342" y="1828038"/>
                    </a:cubicBezTo>
                    <a:lnTo>
                      <a:pt x="5558536" y="1828038"/>
                    </a:lnTo>
                    <a:cubicBezTo>
                      <a:pt x="5720461" y="1828038"/>
                      <a:pt x="5851398" y="1698244"/>
                      <a:pt x="5851398" y="1538605"/>
                    </a:cubicBezTo>
                    <a:lnTo>
                      <a:pt x="5851398" y="319913"/>
                    </a:lnTo>
                    <a:cubicBezTo>
                      <a:pt x="5851398" y="160274"/>
                      <a:pt x="5720461" y="30480"/>
                      <a:pt x="5558536" y="30480"/>
                    </a:cubicBezTo>
                    <a:lnTo>
                      <a:pt x="323342" y="30480"/>
                    </a:lnTo>
                    <a:lnTo>
                      <a:pt x="323342" y="15240"/>
                    </a:lnTo>
                    <a:lnTo>
                      <a:pt x="323342" y="30480"/>
                    </a:lnTo>
                    <a:cubicBezTo>
                      <a:pt x="161417" y="30480"/>
                      <a:pt x="30480" y="160274"/>
                      <a:pt x="30480" y="319913"/>
                    </a:cubicBezTo>
                    <a:close/>
                  </a:path>
                </a:pathLst>
              </a:custGeom>
              <a:solidFill>
                <a:srgbClr val="00B8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9185762" y="1697793"/>
              <a:ext cx="529540" cy="529540"/>
              <a:chOff x="0" y="0"/>
              <a:chExt cx="573316" cy="57331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12700" y="12700"/>
                <a:ext cx="547878" cy="547878"/>
              </a:xfrm>
              <a:custGeom>
                <a:avLst/>
                <a:gdLst/>
                <a:ahLst/>
                <a:cxnLst/>
                <a:rect r="r" b="b" t="t" l="l"/>
                <a:pathLst>
                  <a:path h="547878" w="547878">
                    <a:moveTo>
                      <a:pt x="0" y="91313"/>
                    </a:moveTo>
                    <a:cubicBezTo>
                      <a:pt x="0" y="40894"/>
                      <a:pt x="40894" y="0"/>
                      <a:pt x="91313" y="0"/>
                    </a:cubicBezTo>
                    <a:lnTo>
                      <a:pt x="456565" y="0"/>
                    </a:lnTo>
                    <a:cubicBezTo>
                      <a:pt x="506984" y="0"/>
                      <a:pt x="547878" y="40894"/>
                      <a:pt x="547878" y="91313"/>
                    </a:cubicBezTo>
                    <a:lnTo>
                      <a:pt x="547878" y="456565"/>
                    </a:lnTo>
                    <a:cubicBezTo>
                      <a:pt x="547878" y="506984"/>
                      <a:pt x="506984" y="547878"/>
                      <a:pt x="456565" y="547878"/>
                    </a:cubicBezTo>
                    <a:lnTo>
                      <a:pt x="91313" y="547878"/>
                    </a:lnTo>
                    <a:cubicBezTo>
                      <a:pt x="40894" y="547878"/>
                      <a:pt x="0" y="506984"/>
                      <a:pt x="0" y="456565"/>
                    </a:cubicBezTo>
                    <a:close/>
                  </a:path>
                </a:pathLst>
              </a:custGeom>
              <a:solidFill>
                <a:srgbClr val="0F1E38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73278" cy="573278"/>
              </a:xfrm>
              <a:custGeom>
                <a:avLst/>
                <a:gdLst/>
                <a:ahLst/>
                <a:cxnLst/>
                <a:rect r="r" b="b" t="t" l="l"/>
                <a:pathLst>
                  <a:path h="573278" w="573278">
                    <a:moveTo>
                      <a:pt x="0" y="104013"/>
                    </a:moveTo>
                    <a:cubicBezTo>
                      <a:pt x="0" y="46609"/>
                      <a:pt x="46609" y="0"/>
                      <a:pt x="104013" y="0"/>
                    </a:cubicBezTo>
                    <a:lnTo>
                      <a:pt x="469265" y="0"/>
                    </a:lnTo>
                    <a:lnTo>
                      <a:pt x="469265" y="12700"/>
                    </a:lnTo>
                    <a:lnTo>
                      <a:pt x="469265" y="0"/>
                    </a:lnTo>
                    <a:cubicBezTo>
                      <a:pt x="526669" y="0"/>
                      <a:pt x="573278" y="46609"/>
                      <a:pt x="573278" y="104013"/>
                    </a:cubicBezTo>
                    <a:lnTo>
                      <a:pt x="560578" y="104013"/>
                    </a:lnTo>
                    <a:lnTo>
                      <a:pt x="573278" y="104013"/>
                    </a:lnTo>
                    <a:lnTo>
                      <a:pt x="573278" y="469265"/>
                    </a:lnTo>
                    <a:lnTo>
                      <a:pt x="560578" y="469265"/>
                    </a:lnTo>
                    <a:lnTo>
                      <a:pt x="573278" y="469265"/>
                    </a:lnTo>
                    <a:cubicBezTo>
                      <a:pt x="573278" y="526669"/>
                      <a:pt x="526669" y="573278"/>
                      <a:pt x="469265" y="573278"/>
                    </a:cubicBezTo>
                    <a:lnTo>
                      <a:pt x="469265" y="560578"/>
                    </a:lnTo>
                    <a:lnTo>
                      <a:pt x="469265" y="573278"/>
                    </a:lnTo>
                    <a:lnTo>
                      <a:pt x="104013" y="573278"/>
                    </a:lnTo>
                    <a:lnTo>
                      <a:pt x="104013" y="560578"/>
                    </a:lnTo>
                    <a:lnTo>
                      <a:pt x="104013" y="573278"/>
                    </a:lnTo>
                    <a:cubicBezTo>
                      <a:pt x="46609" y="573278"/>
                      <a:pt x="0" y="526796"/>
                      <a:pt x="0" y="469265"/>
                    </a:cubicBezTo>
                    <a:lnTo>
                      <a:pt x="0" y="104013"/>
                    </a:lnTo>
                    <a:lnTo>
                      <a:pt x="12700" y="104013"/>
                    </a:lnTo>
                    <a:lnTo>
                      <a:pt x="0" y="104013"/>
                    </a:lnTo>
                    <a:moveTo>
                      <a:pt x="25400" y="104013"/>
                    </a:moveTo>
                    <a:lnTo>
                      <a:pt x="25400" y="469265"/>
                    </a:lnTo>
                    <a:lnTo>
                      <a:pt x="12700" y="469265"/>
                    </a:lnTo>
                    <a:lnTo>
                      <a:pt x="25400" y="469265"/>
                    </a:lnTo>
                    <a:cubicBezTo>
                      <a:pt x="25400" y="512699"/>
                      <a:pt x="60579" y="547878"/>
                      <a:pt x="104013" y="547878"/>
                    </a:cubicBezTo>
                    <a:lnTo>
                      <a:pt x="469265" y="547878"/>
                    </a:lnTo>
                    <a:cubicBezTo>
                      <a:pt x="512699" y="547878"/>
                      <a:pt x="547878" y="512699"/>
                      <a:pt x="547878" y="469265"/>
                    </a:cubicBezTo>
                    <a:lnTo>
                      <a:pt x="547878" y="104013"/>
                    </a:lnTo>
                    <a:cubicBezTo>
                      <a:pt x="547878" y="60579"/>
                      <a:pt x="512699" y="25400"/>
                      <a:pt x="469265" y="25400"/>
                    </a:cubicBezTo>
                    <a:lnTo>
                      <a:pt x="104013" y="25400"/>
                    </a:lnTo>
                    <a:lnTo>
                      <a:pt x="104013" y="12700"/>
                    </a:lnTo>
                    <a:lnTo>
                      <a:pt x="104013" y="25400"/>
                    </a:lnTo>
                    <a:cubicBezTo>
                      <a:pt x="60579" y="25400"/>
                      <a:pt x="25400" y="60579"/>
                      <a:pt x="25400" y="104013"/>
                    </a:cubicBezTo>
                    <a:close/>
                  </a:path>
                </a:pathLst>
              </a:custGeom>
              <a:solidFill>
                <a:srgbClr val="00B8F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9309211" y="1821242"/>
              <a:ext cx="283298" cy="283298"/>
              <a:chOff x="0" y="0"/>
              <a:chExt cx="306718" cy="306718"/>
            </a:xfrm>
          </p:grpSpPr>
          <p:sp>
            <p:nvSpPr>
              <p:cNvPr name="Freeform 19" id="19" descr="fa-comment-dots.png"/>
              <p:cNvSpPr/>
              <p:nvPr/>
            </p:nvSpPr>
            <p:spPr>
              <a:xfrm flipH="false" flipV="false" rot="0">
                <a:off x="0" y="0"/>
                <a:ext cx="306705" cy="306705"/>
              </a:xfrm>
              <a:custGeom>
                <a:avLst/>
                <a:gdLst/>
                <a:ahLst/>
                <a:cxnLst/>
                <a:rect r="r" b="b" t="t" l="l"/>
                <a:pathLst>
                  <a:path h="306705" w="306705">
                    <a:moveTo>
                      <a:pt x="0" y="0"/>
                    </a:moveTo>
                    <a:lnTo>
                      <a:pt x="306705" y="0"/>
                    </a:lnTo>
                    <a:lnTo>
                      <a:pt x="306705" y="306705"/>
                    </a:lnTo>
                    <a:lnTo>
                      <a:pt x="0" y="3067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-4" b="-4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312290" y="1805377"/>
              <a:ext cx="1467041" cy="843911"/>
              <a:chOff x="0" y="0"/>
              <a:chExt cx="1588319" cy="91367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588286" cy="913638"/>
              </a:xfrm>
              <a:custGeom>
                <a:avLst/>
                <a:gdLst/>
                <a:ahLst/>
                <a:cxnLst/>
                <a:rect r="r" b="b" t="t" l="l"/>
                <a:pathLst>
                  <a:path h="913638" w="1588286">
                    <a:moveTo>
                      <a:pt x="0" y="228473"/>
                    </a:moveTo>
                    <a:lnTo>
                      <a:pt x="1191380" y="228473"/>
                    </a:lnTo>
                    <a:lnTo>
                      <a:pt x="1191380" y="0"/>
                    </a:lnTo>
                    <a:lnTo>
                      <a:pt x="1588286" y="456819"/>
                    </a:lnTo>
                    <a:lnTo>
                      <a:pt x="1191380" y="913638"/>
                    </a:lnTo>
                    <a:lnTo>
                      <a:pt x="1191380" y="685292"/>
                    </a:lnTo>
                    <a:lnTo>
                      <a:pt x="0" y="685292"/>
                    </a:lnTo>
                    <a:close/>
                  </a:path>
                </a:pathLst>
              </a:custGeom>
              <a:solidFill>
                <a:srgbClr val="00B8FF"/>
              </a:solidFill>
            </p:spPr>
          </p:sp>
        </p:grp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13212" cy="4765202"/>
            </a:xfrm>
            <a:custGeom>
              <a:avLst/>
              <a:gdLst/>
              <a:ahLst/>
              <a:cxnLst/>
              <a:rect r="r" b="b" t="t" l="l"/>
              <a:pathLst>
                <a:path h="4765202" w="7413212">
                  <a:moveTo>
                    <a:pt x="0" y="0"/>
                  </a:moveTo>
                  <a:lnTo>
                    <a:pt x="7413212" y="0"/>
                  </a:lnTo>
                  <a:lnTo>
                    <a:pt x="7413212" y="4765202"/>
                  </a:lnTo>
                  <a:lnTo>
                    <a:pt x="0" y="476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30" t="0" r="-413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79331" y="183472"/>
              <a:ext cx="6275429" cy="4370193"/>
            </a:xfrm>
            <a:custGeom>
              <a:avLst/>
              <a:gdLst/>
              <a:ahLst/>
              <a:cxnLst/>
              <a:rect r="r" b="b" t="t" l="l"/>
              <a:pathLst>
                <a:path h="4370193" w="6275429">
                  <a:moveTo>
                    <a:pt x="0" y="0"/>
                  </a:moveTo>
                  <a:lnTo>
                    <a:pt x="6275428" y="0"/>
                  </a:lnTo>
                  <a:lnTo>
                    <a:pt x="6275428" y="4370193"/>
                  </a:lnTo>
                  <a:lnTo>
                    <a:pt x="0" y="4370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771" r="0" b="-3771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169037" y="2382601"/>
              <a:ext cx="5496017" cy="1196177"/>
            </a:xfrm>
            <a:custGeom>
              <a:avLst/>
              <a:gdLst/>
              <a:ahLst/>
              <a:cxnLst/>
              <a:rect r="r" b="b" t="t" l="l"/>
              <a:pathLst>
                <a:path h="1196177" w="5496017">
                  <a:moveTo>
                    <a:pt x="0" y="0"/>
                  </a:moveTo>
                  <a:lnTo>
                    <a:pt x="5496016" y="0"/>
                  </a:lnTo>
                  <a:lnTo>
                    <a:pt x="5496016" y="1196177"/>
                  </a:lnTo>
                  <a:lnTo>
                    <a:pt x="0" y="1196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633" r="0" b="-183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9950071" y="1755412"/>
              <a:ext cx="3932727" cy="739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b="true" sz="1662" spc="-1">
                  <a:solidFill>
                    <a:srgbClr val="00B8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Total sales by region for Q3?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10026" y="2035122"/>
            <a:ext cx="13873045" cy="7943436"/>
          </a:xfrm>
          <a:custGeom>
            <a:avLst/>
            <a:gdLst/>
            <a:ahLst/>
            <a:cxnLst/>
            <a:rect r="r" b="b" t="t" l="l"/>
            <a:pathLst>
              <a:path h="7943436" w="13873045">
                <a:moveTo>
                  <a:pt x="0" y="0"/>
                </a:moveTo>
                <a:lnTo>
                  <a:pt x="13873045" y="0"/>
                </a:lnTo>
                <a:lnTo>
                  <a:pt x="13873045" y="7943436"/>
                </a:lnTo>
                <a:lnTo>
                  <a:pt x="0" y="7943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2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568955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Usee Case Diagram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756930" y="1991488"/>
            <a:ext cx="23944589" cy="11004100"/>
          </a:xfrm>
          <a:custGeom>
            <a:avLst/>
            <a:gdLst/>
            <a:ahLst/>
            <a:cxnLst/>
            <a:rect r="r" b="b" t="t" l="l"/>
            <a:pathLst>
              <a:path h="11004100" w="23944589">
                <a:moveTo>
                  <a:pt x="0" y="0"/>
                </a:moveTo>
                <a:lnTo>
                  <a:pt x="23944589" y="0"/>
                </a:lnTo>
                <a:lnTo>
                  <a:pt x="23944589" y="11004100"/>
                </a:lnTo>
                <a:lnTo>
                  <a:pt x="0" y="11004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65" r="-139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481072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Activity Diagram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59252" y="1866176"/>
            <a:ext cx="13631152" cy="8133254"/>
          </a:xfrm>
          <a:custGeom>
            <a:avLst/>
            <a:gdLst/>
            <a:ahLst/>
            <a:cxnLst/>
            <a:rect r="r" b="b" t="t" l="l"/>
            <a:pathLst>
              <a:path h="8133254" w="13631152">
                <a:moveTo>
                  <a:pt x="0" y="0"/>
                </a:moveTo>
                <a:lnTo>
                  <a:pt x="13631151" y="0"/>
                </a:lnTo>
                <a:lnTo>
                  <a:pt x="13631151" y="8133254"/>
                </a:lnTo>
                <a:lnTo>
                  <a:pt x="0" y="813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345549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ER Diagram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47423" y="1918440"/>
            <a:ext cx="14511877" cy="8283657"/>
          </a:xfrm>
          <a:custGeom>
            <a:avLst/>
            <a:gdLst/>
            <a:ahLst/>
            <a:cxnLst/>
            <a:rect r="r" b="b" t="t" l="l"/>
            <a:pathLst>
              <a:path h="8283657" w="14511877">
                <a:moveTo>
                  <a:pt x="0" y="0"/>
                </a:moveTo>
                <a:lnTo>
                  <a:pt x="14511877" y="0"/>
                </a:lnTo>
                <a:lnTo>
                  <a:pt x="14511877" y="8283656"/>
                </a:lnTo>
                <a:lnTo>
                  <a:pt x="0" y="828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311437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AI Pipeline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88760" y="2149933"/>
            <a:ext cx="10518660" cy="6473022"/>
          </a:xfrm>
          <a:custGeom>
            <a:avLst/>
            <a:gdLst/>
            <a:ahLst/>
            <a:cxnLst/>
            <a:rect r="r" b="b" t="t" l="l"/>
            <a:pathLst>
              <a:path h="6473022" w="10518660">
                <a:moveTo>
                  <a:pt x="0" y="0"/>
                </a:moveTo>
                <a:lnTo>
                  <a:pt x="10518660" y="0"/>
                </a:lnTo>
                <a:lnTo>
                  <a:pt x="10518660" y="6473022"/>
                </a:lnTo>
                <a:lnTo>
                  <a:pt x="0" y="6473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230147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Sign Up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795977" y="1866176"/>
            <a:ext cx="11050872" cy="6800536"/>
          </a:xfrm>
          <a:custGeom>
            <a:avLst/>
            <a:gdLst/>
            <a:ahLst/>
            <a:cxnLst/>
            <a:rect r="r" b="b" t="t" l="l"/>
            <a:pathLst>
              <a:path h="6800536" w="11050872">
                <a:moveTo>
                  <a:pt x="0" y="0"/>
                </a:moveTo>
                <a:lnTo>
                  <a:pt x="11050872" y="0"/>
                </a:lnTo>
                <a:lnTo>
                  <a:pt x="11050872" y="6800537"/>
                </a:lnTo>
                <a:lnTo>
                  <a:pt x="0" y="6800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2030611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Sign In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096704" y="2190026"/>
            <a:ext cx="12643404" cy="6411539"/>
          </a:xfrm>
          <a:custGeom>
            <a:avLst/>
            <a:gdLst/>
            <a:ahLst/>
            <a:cxnLst/>
            <a:rect r="r" b="b" t="t" l="l"/>
            <a:pathLst>
              <a:path h="6411539" w="12643404">
                <a:moveTo>
                  <a:pt x="0" y="0"/>
                </a:moveTo>
                <a:lnTo>
                  <a:pt x="12643404" y="0"/>
                </a:lnTo>
                <a:lnTo>
                  <a:pt x="12643404" y="6411539"/>
                </a:lnTo>
                <a:lnTo>
                  <a:pt x="0" y="6411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490879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Add Data Source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048729" y="1866176"/>
            <a:ext cx="12809449" cy="7390066"/>
          </a:xfrm>
          <a:custGeom>
            <a:avLst/>
            <a:gdLst/>
            <a:ahLst/>
            <a:cxnLst/>
            <a:rect r="r" b="b" t="t" l="l"/>
            <a:pathLst>
              <a:path h="7390066" w="12809449">
                <a:moveTo>
                  <a:pt x="0" y="0"/>
                </a:moveTo>
                <a:lnTo>
                  <a:pt x="12809449" y="0"/>
                </a:lnTo>
                <a:lnTo>
                  <a:pt x="12809449" y="7390067"/>
                </a:lnTo>
                <a:lnTo>
                  <a:pt x="0" y="739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402967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Triage Screen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66871" y="1868234"/>
            <a:ext cx="12809449" cy="7390066"/>
          </a:xfrm>
          <a:custGeom>
            <a:avLst/>
            <a:gdLst/>
            <a:ahLst/>
            <a:cxnLst/>
            <a:rect r="r" b="b" t="t" l="l"/>
            <a:pathLst>
              <a:path h="7390066" w="12809449">
                <a:moveTo>
                  <a:pt x="0" y="0"/>
                </a:moveTo>
                <a:lnTo>
                  <a:pt x="12809449" y="0"/>
                </a:lnTo>
                <a:lnTo>
                  <a:pt x="12809449" y="7390066"/>
                </a:lnTo>
                <a:lnTo>
                  <a:pt x="0" y="7390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463852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Field Semantics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71871" y="2660436"/>
            <a:ext cx="8831329" cy="4323923"/>
          </a:xfrm>
          <a:custGeom>
            <a:avLst/>
            <a:gdLst/>
            <a:ahLst/>
            <a:cxnLst/>
            <a:rect r="r" b="b" t="t" l="l"/>
            <a:pathLst>
              <a:path h="4323923" w="8831329">
                <a:moveTo>
                  <a:pt x="0" y="0"/>
                </a:moveTo>
                <a:lnTo>
                  <a:pt x="8831329" y="0"/>
                </a:lnTo>
                <a:lnTo>
                  <a:pt x="8831329" y="4323923"/>
                </a:lnTo>
                <a:lnTo>
                  <a:pt x="0" y="4323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57" t="0" r="-13618" b="-4643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660436"/>
            <a:ext cx="8392499" cy="4428458"/>
          </a:xfrm>
          <a:custGeom>
            <a:avLst/>
            <a:gdLst/>
            <a:ahLst/>
            <a:cxnLst/>
            <a:rect r="r" b="b" t="t" l="l"/>
            <a:pathLst>
              <a:path h="4428458" w="8392499">
                <a:moveTo>
                  <a:pt x="0" y="0"/>
                </a:moveTo>
                <a:lnTo>
                  <a:pt x="8392499" y="0"/>
                </a:lnTo>
                <a:lnTo>
                  <a:pt x="8392499" y="4428458"/>
                </a:lnTo>
                <a:lnTo>
                  <a:pt x="0" y="4428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72" t="-590" r="-13567" b="-322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7282" y="1123226"/>
            <a:ext cx="60924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Co-planned Cleaning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105" cy="822417"/>
            <a:chOff x="0" y="0"/>
            <a:chExt cx="24382806" cy="1096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2857" cy="1096518"/>
            </a:xfrm>
            <a:custGeom>
              <a:avLst/>
              <a:gdLst/>
              <a:ahLst/>
              <a:cxnLst/>
              <a:rect r="r" b="b" t="t" l="l"/>
              <a:pathLst>
                <a:path h="1096518" w="24382857">
                  <a:moveTo>
                    <a:pt x="0" y="0"/>
                  </a:moveTo>
                  <a:lnTo>
                    <a:pt x="24382857" y="0"/>
                  </a:lnTo>
                  <a:lnTo>
                    <a:pt x="24382857" y="1096518"/>
                  </a:lnTo>
                  <a:lnTo>
                    <a:pt x="0" y="1096518"/>
                  </a:lnTo>
                  <a:close/>
                </a:path>
              </a:pathLst>
            </a:custGeom>
            <a:solidFill>
              <a:srgbClr val="060E1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84555" y="1866176"/>
            <a:ext cx="12660592" cy="7304188"/>
          </a:xfrm>
          <a:custGeom>
            <a:avLst/>
            <a:gdLst/>
            <a:ahLst/>
            <a:cxnLst/>
            <a:rect r="r" b="b" t="t" l="l"/>
            <a:pathLst>
              <a:path h="7304188" w="12660592">
                <a:moveTo>
                  <a:pt x="0" y="0"/>
                </a:moveTo>
                <a:lnTo>
                  <a:pt x="12660592" y="0"/>
                </a:lnTo>
                <a:lnTo>
                  <a:pt x="12660592" y="7304188"/>
                </a:lnTo>
                <a:lnTo>
                  <a:pt x="0" y="7304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2800" y="219342"/>
            <a:ext cx="1531801" cy="37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">
                <a:solidFill>
                  <a:srgbClr val="00B8FF"/>
                </a:solidFill>
                <a:latin typeface="Arial Bold"/>
                <a:ea typeface="Arial Bold"/>
                <a:cs typeface="Arial Bold"/>
                <a:sym typeface="Arial Bold"/>
              </a:rPr>
              <a:t>AskMyData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7463" y="163106"/>
            <a:ext cx="662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7282" y="1123226"/>
            <a:ext cx="399454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Relationships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602" y="3856901"/>
            <a:ext cx="14907063" cy="130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8100" spc="-1">
                <a:solidFill>
                  <a:srgbClr val="E6F1FF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1602" y="5512346"/>
            <a:ext cx="14907063" cy="47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spc="-1">
                <a:solidFill>
                  <a:srgbClr val="88A4C8"/>
                </a:solidFill>
                <a:latin typeface="Arial"/>
                <a:ea typeface="Arial"/>
                <a:cs typeface="Arial"/>
                <a:sym typeface="Arial"/>
              </a:rPr>
              <a:t>Questions and feedback are welcome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1602" y="7158266"/>
            <a:ext cx="149070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Email: bsse1424@iit.du.ac.bd | GitHub: https://github.com/T-T0ha/AskMyData </a:t>
            </a:r>
            <a:r>
              <a:rPr lang="en-US" sz="1950" spc="-1" u="sng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  <a:hlinkClick r:id="rId2" tooltip="https://github.com/T-T0ha/AskMyData"/>
              </a:rPr>
              <a:t>|</a:t>
            </a:r>
            <a:r>
              <a:rPr lang="en-US" sz="1950" spc="-1">
                <a:solidFill>
                  <a:srgbClr val="4E6A8A"/>
                </a:solidFill>
                <a:latin typeface="Arial"/>
                <a:ea typeface="Arial"/>
                <a:cs typeface="Arial"/>
                <a:sym typeface="Arial"/>
              </a:rPr>
              <a:t> IIT, University of Dhaka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DAHKADi1UzU</dc:identifier>
  <dcterms:modified xsi:type="dcterms:W3CDTF">2011-08-01T06:04:30Z</dcterms:modified>
  <cp:revision>1</cp:revision>
  <dc:title>Ask.pptx</dc:title>
</cp:coreProperties>
</file>